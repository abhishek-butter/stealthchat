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463040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4000" b="1">
                <a:solidFill>
                  <a:srgbClr val="38BDF8"/>
                </a:solidFill>
              </a:defRPr>
            </a:pPr>
            <a:r>
              <a:t>StealthChat: Next-Gen Real-Time Architecture</a:t>
            </a:r>
            <a:br/>
            <a:r>
              <a:t>&amp; Steganographic Carrier Security</a:t>
            </a:r>
          </a:p>
          <a:p>
            <a:pPr>
              <a:spcAft>
                <a:spcPts val="3200"/>
              </a:spcAft>
              <a:defRPr sz="2200">
                <a:solidFill>
                  <a:srgbClr val="818CF8"/>
                </a:solidFill>
              </a:defRPr>
            </a:pPr>
            <a:r>
              <a:t>Bridging TCP/IP Transport Layer Foundations with Novel Camouflaged Web Messaging</a:t>
            </a:r>
          </a:p>
          <a:p>
            <a:pPr>
              <a:defRPr sz="1500" i="1">
                <a:solidFill>
                  <a:srgbClr val="F59E0B"/>
                </a:solidFill>
              </a:defRPr>
            </a:pPr>
            <a:r>
              <a:t>Computer Networking (CN) Case Study • Core Innovation &amp; Comprehensive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THE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1. Project Motivation: The Fatal Flaw in Modern Chat Apps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Why standard End-to-End Encryption (E2EE) fails against network-level surveillance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The Traditional E2EE Dilemma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Apps like WhatsApp, Signal, and Telegram encrypt message text, but their packets loudly scream 'CIPHERTEXT' to network monitors, ISPs, firewalls, and Deep Packet Inspection (DPI) appliances.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Traffic Analysis &amp; Censorship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In corporate or restricted networks, detecting encrypted payloads leads to packet throttling, blocking, or flagged surveillance—even if the attacker cannot crack the mathematical cipher.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Our Novel Breakthrough (StealthChat)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Instead of transmitting obvious ciphertext, our system invents a dual-layer Steganographic Carrier Channel: confidential data is embedded into procedural image pixels, masking the existence of communication.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Security Through Camouflage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To firewalls, packet sniffers (Wireshark), and server admins, the traffic is identical to normal, benign PNG image sharing. Zero metadata or ciphertext alerts are triggered.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NOVELTY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2. Our Novelty: Canvas LSB Image Encryption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How client-side Least Significant Bit (LSB) steganography conceals confidential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Procedural Carrier Canvas Generation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The client browser dynamically synthesizes a unique HTML5 Canvas gradient artwork on the fly, avoiding hardcoded or repeated image hashes.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Binary Bit-Level Encoding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Secret text is converted to UTF-8 binary bitstreams, terminated by a 16-bit null delimiter (0000000000000000) to eliminate metadata length headers.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Bitwise Pixel Mutation: Pixel &amp; ~1 | Bit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Bits replace only the Least Significant Bit of Red, Green, and Blue bytes. Maximum distortion per color channel is &lt;= 1/255 (0.39%), below the human visual perception threshold.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Client-Side Zero-Knowledge Extraction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The recipient decrypts purely in their local Canvas pixel buffer. The server, intermediaries, and network logs only ever see standard image/png binary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3. Competitive Analysis: StealthChat vs Industry Giants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Evaluating our novel architecture against leading commercial chat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Payload Visibility to DPI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WhatsApp/Signal: Obvious raw ciphertext streams. StealthChat: Fully disguised as harmless PNG image frames—undetectable by Deep Packet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Deniable Communication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WhatsApp/Signal: None. Metadata logs prove an encrypted exchange occurred. StealthChat: Supported. The sender can claim they were sharing random digital artwork.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Zero-Plugin Browser Execution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WhatsApp/Signal require heavy compiled native cryptography libraries (libsignal). StealthChat operates 100% in pure HTML5 Canvas &amp; WebSockets without browser plugins.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Transport &amp; Delivery Guarantees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Combines the best of WhatsApp (SENT ✓, DELIVERED ✓✓, READ ✓✓ receipts, Heartbeat presence TTL) with our custom steganographic carrier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NETWORK LAYER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4. Network Camouflage &amp; DPI Resistance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Demonstrating how Steganography defeats network-level packet sniffers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Deep Packet Inspection (DPI) Vulnerability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Modern enterprise firewalls and network middleboxes inspect transport payloads. High-entropy ciphertext strings are immediately flagged as suspicious or blocked.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MIME-Type &amp; Framing Disguise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StealthChat formats the steganographic carrier into standard Base64 image/png data, adhering to normal HTTP/WebSocket MIME classifications.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Admin Audit Dashboard Interception Proof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Our built-in Admin Security Dashboard captures intercepted database logs: it confirms that snooping admins and proxy observers see only [BASE64 CARRIER IMAGE].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Dual-Layer Defense in Depth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Layer 1: Protocol Security (WebSockets + JWT Channel ACL) + Layer 2: Novel Payload Camouflage (Visual Steganography).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TRANSPORT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5. Networking Fundamentals: TCP vs UDP Protocol Choice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Why TCP is mandatory for reliable, ordered multi-client chat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TCP (Transmission Control Protocol)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Connection-oriented with strict 3-way handshake (SYN -&gt; SYN-ACK -&gt; ACK). Guarantees packets arrive in exact sequential order without bit corruption or duplication.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UDP (User Datagram Protocol)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Connectionless fire-and-forget protocol. High speed but zero delivery guarantees—packets can arrive out of order, corrupted, or not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Chat Semantic Integrity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 chat message requires 100% reliability. Dropping fragments or reordering packets corrupts meaning. Hence, TCP is the required transport layer foundation.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Transport Layer Mapping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Both our Phase 1 Raw Socket Server and Phase 2 WebSocket Architecture run on top of TCP.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TRANSPORT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6. Sockets, Ports &amp; Concurrency Architecture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How the transport layer routes data and manages concurrent client connections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Socket Endpoints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 network socket is an endpoint abstraction combining an IP address and port number (e.g., 127.0.0.1:8189), allowing the OS TCP stack to bind packets to specific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The Concurrency Bottleneck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 single-threaded server blocks inside accept() or read() loops. If one client has high latency, all other connected clients are blocked from communicating.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Multi-Threaded Server Delegation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The main server thread exclusively accepts incoming handshakes, offloading each socket to a dedicated ClientHandler background worker thread.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Thread-Safe Mutex Synchronization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Broadcast client sets are protected with synchronized mutex locks, preventing ConcurrentModificationException during simultaneous client connects/disconnects.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PHASE 1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7. Foundation Prototype: Raw Java TCP Socket Chat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Architecture and design of our practical Java multi-threaded socket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ChatServer.java (Core Server)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Initializes ServerSocket(8189), manages persistent client streams, and broadcasts messages across synchronized client output writers.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ChatClient.java (Terminal Client)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Demonstrates dual-thread terminal I/O: Main thread reads stdin; background listener thread monitors socket InputStream for broadcasts.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ChatClientGUI.java (Swing Interface)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Abstracts socket networking behind a GUI. Event Dispatch Thread (EDT) updates visuals while background worker threads handle blocking network 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Network Boundary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Operates directly on raw TCP streams; clients communicate via raw plaintext byte streams delimited by newline characters.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APPLICATION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8. Architectural Shift: Why WebSockets? (RFC 6455)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Overcoming the fundamental limitations of HTTP and raw TCP in web browsers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Browser Sandbox Barrier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Web browsers strictly prohibit raw TCP socket access for security reasons; all traffic must traverse standard web ports (80/443).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HTTP/1.1 Polling Overhead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Periodic polling generates 500B-2KB of redundant HTTP headers per request, flooding network pipes and creating server connection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HTTP Long-Polling &amp; SSE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Unidirectional and prone to connection timeouts; requires closing and reconnecting HTTP request cycles continuously.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The WebSocket Solution (RFC 6455)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Initiates via standard HTTP 101 Upgrade handshake, then converts into a persistent full-duplex TCP stream with tiny 2-10 byte framing overhead.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9. Publish-Subscribe (Pub/Sub) Message Fan-Out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Decoupling message routing across distributed clusters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Multi-Server Connection Problem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In scalable deployments, Sender (on Gateway Node 1) and Recipient (on Gateway Node 2) are not connected to the same server memory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Redis / Kafka Pub/Sub Broker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WebSocket gateways connect to a central Pub/Sub broker cluster. When a message is sent, Gateway 1 publishes to the destination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1-on-1 vs Channel Routing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1-on-1 messages publish to user:{recipient_id}. Group messages fan out to /topic/{roomId} where all participating nodes relay to connected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Horizontal Scaling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WebSocket gateways become stateless relays; new nodes can be added or destroyed dynamically without disrupting routing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10. Stateless API Microservices Architecture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Separating stateful real-time connections from transactional business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Stateful Layer (WebSocket Gateway)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Handles persistent TCP sockets, STOMP heartbeat ping/pong frames, and ephemeral delivery ACKs at /ws-chat.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Stateless HTTP/REST Services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All non-real-time operations remain strictly stateless: Auth Service (/api/auth), Group Management (/api/groups), User Profiles, and Interception Audits (/api/admin).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Independent Elastic Scaling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Stateless REST APIs autoscale horizontally behind standard L7 load balancers (Nginx/HAProxy) based on CPU/traffic without dropping active chat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Zero-Downtime Deployments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Business logic and profile schemas can be updated without cycling long-lived WebSocket connections.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ESSENTIAL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11. Message Delivery State Machine (ACK Tracking)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Building user trust through sent, delivered, and read receipt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Pending (🕒)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Message is created on client and placed in local IndexedDB outbox while offline or in-flight.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Sent (✓ Single Gray Tick)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Server receives frame, validates idempotency, persists to database, and emits an immediate ACK to the sender.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Delivered (✓✓ Double Gray Tick)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Recipient's WebSocket client receives the message frame and automatically emits an ACK frame (/app/chat.ackDelivery/{roomId}).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Read (✓✓ Double Blue Tick)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Recipient opens the active conversation viewport; client triggers /app/chat.ackRead/{roomId}, updating chat bubbles in real-time.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ESSENTIAL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12. Presence Status System (Heartbeat + TTL Cache)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Accurate online, away, and offline tracking without socket polling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The Ghost Connection Problem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Abrupt client crashes, tunnel loss, or dead batteries often leave TCP connections half-open without a TCP FIN packet.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Heartbeat Keep-Alive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Active clients emit a lightweight heartbeat ping (/app/chat.heartbeat) every 15 seconds containing presence status (ONLINE or AWAY).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Cache Storage with 30s TTL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PresenceService maintains an in-memory/Redis TTL cache. If no heartbeat arrives within 30 seconds, the user's presence key automatically expires.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Scheduled Eviction Sweep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An asynchronous task sweeps expired records every 5s, immediately notifying channel members of status transitions (/topic/presence).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ESSENTIAL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13. Multi-Device &amp; Cross-Tab Synchronization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Zero-redundancy local synchronization across browser sessions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BroadcastChannel API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Browser tabs of the same origin communicate directly using new BroadcastChannel('stealthchat_sync_channel').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Cross-Tab Read Sync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When Tab 1 marks a conversation as READ, it broadcasts an ACK_UPDATE event; Tab 2 instantly updates its tick indicators without making extra network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Outgoing Message Mirroring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Messages sent in one window immediately appear in other active tabs without duplicate REST polling.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Cross-Device Sequence Clock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Monotonically increasing sequence IDs allow mobile and desktop companion devices to fetch missing message deltas upon reconnect.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OFFLINE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14. Offline-First Architecture: IndexedDB &amp; Service Worker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Ensuring continuous chat usability through degraded network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Local IndexedDB Datastore (StealthChatDB)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Maintains local object stores: 'messages' (indexed by roomId/timestamp for instant local rendering) and 'outbox' (for pending queued frames).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Service Worker Shell Caching (sw.js)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Pre-caches HTML, scripts, and stylesheets using a Network-First fallback strategy, allowing full app access while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Background Sync API (sync-queued-messages)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Registers an asynchronous sync tag. The service worker notifies the page when connectivity is restored, triggering an automated outbox drain.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Optimistic UI Rendering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Users compose and view queued messages instantly with a pending clock badge, eliminating UI latency.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SECURITY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15. Security: Authentication &amp; Channel-Level ACL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Short-lived JWTs and packet-level STOMP channel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Stateless JWT Issuance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Upon successful REST login (/api/auth/login), users receive an RFC 7519 HMAC-SHA256 signed token embedding identity, role, and expiration.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STOMP CONNECT Interception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WebSocketSecurityChannelInterceptor extracts the JWT from native Authorization: Bearer headers and establishes an authenticated StompPrincipal.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STOMP SUBSCRIBE Channel Guard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When a client subscribes to /topic/{roomId}, the interceptor verifies group membership in GroupMembershipRepository. Unauthorized subscriptions are dropped!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Constant-Time Verification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Signature verification uses constant-time byte comparisons to eliminate side-channel timing attack vulnerabilities.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16. Client-Side Idempotency &amp; Deduplication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Eliminating duplicate messages caused by unstable network retries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The Retry Storm Dilemma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On mobile connections, a message is often delivered successfully, but the server's return ACK is dropped. The client retries, duplicating the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Client Message ID Assignment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Clients generate a cryptographically unique UUIDv7 / timestamp string (clientMsgId) before transmitting.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Sliding-Window Idempotency Cache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IdempotencyService maintains an in-memory cache with a 5-minute TTL window alongside a persistent database index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Zero Duplication Guarantee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If a duplicate clientMsgId is detected, the server suppresses duplicate database inserts and broadcasts, returning the existing status safely.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PRACTICAL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17. Live Demonstration: StealthChat Full-Stack App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Enterprise Spring Boot 3 &amp; modern browser client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Technology Stack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Java 17, Spring Boot 3.2.3, Spring WebSocket MessageBroker (SockJS/STOMP), Spring Data JPA, H2 Database, Vanilla HTML5/CSS3.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WhatsApp-Inspired User Experience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Dark-mode aesthetic, dynamic tick indicators, group invite code system, and responsive layout across desktop and mobile.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Steganographic Carrier Demonstration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Toggle Stealth Mode to view how secret text turns into an aesthetic noise canvas and is decrypted cleanly on the recipient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Admin Security Audit Panel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Real-time audit log demonstrates that server databases and interceptors only capture carrier images without plaintext leakage.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18. Real-World Engineering Challenges Encountered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Key obstacles resolved during development and architectural 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Port Conflicts (HTTP 400 Mismatch)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Port 8080 was occupied by a background HTTP server that rejected raw TCP text with HTTP 400; resolved by dedicating port 8189 for raw sockets and 8080 for web.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Thread Safety &amp; Race Conditions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Concurrent connections caused ConcurrentModificationException on client lists; resolved using synchronized mutex blocks.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Spring Boot Circular Dependency Cycle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WebSocketConfig -&gt; SecurityInterceptor -&gt; PresenceService -&gt; SimpMessagingTemplate formed an unresolvable cycle; resolved via @Lazy decoupling.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Dual-Tab Message Duplication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BroadcastChannel cross-tab sync initially triggered duplicate DOM bubbles; resolved via unique clientMsgId DOM deduplication.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4C1D95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CONCLUSION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19. Conclusion: Academic &amp; Technical Contributions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Summary of networking contributions and novel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Transport Layer Mastery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Demonstrated hands-on socket programming, port binding, and thread synchronization in Java.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Enterprise Distributed Systems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Successfully implemented WebSockets, Pub/Sub fanout, Stateless REST microservices, and JWT channel authorization.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78808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Reliability Across Hostile Networks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Solved mobile instability using client idempotency, delivery receipt state machines, and heartbeat TTL presence.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76672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31536"/>
            <a:ext cx="103327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59E0B"/>
                </a:solidFill>
              </a:defRPr>
            </a:pPr>
            <a:r>
              <a:t>Our Core Novelty (Steganographic Carrier)</a:t>
            </a:r>
          </a:p>
          <a:p>
            <a:pPr>
              <a:defRPr sz="1250">
                <a:solidFill>
                  <a:srgbClr val="F1F5F9"/>
                </a:solidFill>
              </a:defRPr>
            </a:pPr>
            <a:r>
              <a:t>Pioneered a deniable, DPI-resistant messaging channel by concealing confidential data inside procedural carrier images—advancing state-of-the-art chat privacy.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